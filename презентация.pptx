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embeddedFontLst>
    <p:embeddedFont>
      <p:font typeface="Palatino Linotype"/>
      <p:regular r:id="rId14"/>
      <p:bold r:id="rId15"/>
      <p:italic r:id="rId16"/>
      <p:boldItalic r:id="rId17"/>
    </p:embeddedFont>
    <p:embeddedFont>
      <p:font typeface="Arial Black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5aH/8Y4chbA+jmnEnl9u80kCO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alatinoLinotype-bold.fntdata"/><Relationship Id="rId14" Type="http://schemas.openxmlformats.org/officeDocument/2006/relationships/font" Target="fonts/PalatinoLinotype-regular.fntdata"/><Relationship Id="rId17" Type="http://schemas.openxmlformats.org/officeDocument/2006/relationships/font" Target="fonts/PalatinoLinotype-boldItalic.fntdata"/><Relationship Id="rId16" Type="http://schemas.openxmlformats.org/officeDocument/2006/relationships/font" Target="fonts/PalatinoLinotype-italic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ArialBlack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212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583680" y="274320"/>
            <a:ext cx="2011680" cy="20116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9456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132320" y="1645920"/>
            <a:ext cx="1280160" cy="12801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A62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863840" y="2743200"/>
            <a:ext cx="822960" cy="822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9B8E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457200" y="675480"/>
            <a:ext cx="5577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Основни грешки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1325880"/>
            <a:ext cx="5577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при предпечатната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1965905"/>
            <a:ext cx="5577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подготовка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858000" y="4315968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D0D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D0D8"/>
                </a:solidFill>
                <a:latin typeface="Calibri"/>
                <a:ea typeface="Calibri"/>
                <a:cs typeface="Calibri"/>
                <a:sym typeface="Calibri"/>
              </a:rPr>
              <a:t>Божидара Ваклинова 11б клас</a:t>
            </a:r>
            <a:r>
              <a:rPr b="0" i="0" lang="en-US" sz="1000" u="none" cap="none" strike="noStrike">
                <a:solidFill>
                  <a:srgbClr val="FFD0D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492240" y="182880"/>
            <a:ext cx="731520" cy="7315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" name="Google Shape;2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3200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"/>
          <p:cNvSpPr/>
          <p:nvPr/>
        </p:nvSpPr>
        <p:spPr>
          <a:xfrm>
            <a:off x="7498080" y="182880"/>
            <a:ext cx="731520" cy="7315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" name="Google Shape;2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5240" y="3200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"/>
          <p:cNvSpPr/>
          <p:nvPr/>
        </p:nvSpPr>
        <p:spPr>
          <a:xfrm>
            <a:off x="6492240" y="1188720"/>
            <a:ext cx="731520" cy="7315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" name="Google Shape;3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400" y="1325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/>
          <p:nvPr/>
        </p:nvSpPr>
        <p:spPr>
          <a:xfrm>
            <a:off x="7498080" y="1188720"/>
            <a:ext cx="731520" cy="7315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" name="Google Shape;3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35240" y="1325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"/>
          <p:cNvSpPr/>
          <p:nvPr/>
        </p:nvSpPr>
        <p:spPr>
          <a:xfrm>
            <a:off x="6492240" y="2194560"/>
            <a:ext cx="731520" cy="7315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23317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"/>
          <p:cNvSpPr/>
          <p:nvPr/>
        </p:nvSpPr>
        <p:spPr>
          <a:xfrm>
            <a:off x="7498080" y="2194560"/>
            <a:ext cx="731520" cy="7315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35240" y="2331720"/>
            <a:ext cx="502920" cy="502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228600" y="16459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9B8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ВЪВЕДЕНИЕ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65760" y="54864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Какво е предпечатна подготовка?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65760" y="1737360"/>
            <a:ext cx="1097280" cy="4572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365760" y="1920240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8D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5C8D8"/>
                </a:solidFill>
                <a:latin typeface="Calibri"/>
                <a:ea typeface="Calibri"/>
                <a:cs typeface="Calibri"/>
                <a:sym typeface="Calibri"/>
              </a:rPr>
              <a:t>Предпечатната подготовка обхваща всички процеси по подготовката на дизайн за печат – от концепцията до финалния файл, готов за печатница или дигитална публикация.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26280" y="1874520"/>
            <a:ext cx="384048" cy="38404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526280" y="18745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983480" y="18745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Четимост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983480" y="210312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Текстът трябва да се чете лесно и без усилие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26280" y="2560320"/>
            <a:ext cx="384048" cy="38404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526280" y="25603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983480" y="25603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Йерархия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983480" y="278892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Важното трябва да изпъква визуално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526280" y="3246120"/>
            <a:ext cx="384048" cy="38404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526280" y="32461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983480" y="32461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Баланс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983480" y="347472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Разпределение на елементите в пространството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526280" y="3931920"/>
            <a:ext cx="384048" cy="38404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4526280" y="39319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983480" y="39319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Контраст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983480" y="416052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Разграничаване на отделните елементи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343400" y="1874520"/>
            <a:ext cx="27432" cy="283464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228600" y="16459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ГРЕШКА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65760" y="54864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Претрупан дизайн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65760" y="13258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Твърде много елементи = нищо не изпъква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65760" y="1737360"/>
            <a:ext cx="109728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365760" y="1874520"/>
            <a:ext cx="3840480" cy="3017520"/>
          </a:xfrm>
          <a:prstGeom prst="rect">
            <a:avLst/>
          </a:prstGeom>
          <a:solidFill>
            <a:srgbClr val="2A1A1A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502920" y="1920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❌  ЛОШО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48640" y="2240280"/>
            <a:ext cx="3474720" cy="20116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548640" y="224028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НЕВЕРОЯТНА ОТСТЪПКА 50% САМО ДНЕС!!!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48640" y="2450592"/>
            <a:ext cx="3474720" cy="20116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548640" y="2450592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Купи сега • Не изпускай • Последен шанс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48640" y="2670048"/>
            <a:ext cx="1645920" cy="2011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548640" y="2670048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★★★★★ Качество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240280" y="2670048"/>
            <a:ext cx="1828800" cy="201168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2240280" y="267004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Гаранция 2г.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48640" y="2889504"/>
            <a:ext cx="3474720" cy="201168"/>
          </a:xfrm>
          <a:prstGeom prst="rect">
            <a:avLst/>
          </a:prstGeom>
          <a:solidFill>
            <a:srgbClr val="33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548640" y="2889504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Lorem ipsum много текст тук и тук и пак тук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48640" y="3108960"/>
            <a:ext cx="3474720" cy="20116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548640" y="310896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БЕЗПЛАТНА ДОСТАВКА + ПОДАРЪК + БОНУС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48640" y="3328416"/>
            <a:ext cx="3474720" cy="2011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548640" y="332841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Ограничено количество • Поръчай тук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48640" y="3547872"/>
            <a:ext cx="3474720" cy="201168"/>
          </a:xfrm>
          <a:prstGeom prst="rect">
            <a:avLst/>
          </a:prstGeom>
          <a:solidFill>
            <a:srgbClr val="6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548640" y="3547872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Цена: 9.99лв  Нормална цена: 99.99лв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48640" y="3767328"/>
            <a:ext cx="3474720" cy="201168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548640" y="3767328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📞 088 / ✉ mail / 🌐 web / 📱 app / 📍 map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548640" y="3986784"/>
            <a:ext cx="3474720" cy="201168"/>
          </a:xfrm>
          <a:prstGeom prst="rect">
            <a:avLst/>
          </a:prstGeom>
          <a:solidFill>
            <a:srgbClr val="222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548640" y="3986784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Фирма ЕООД • ЕИК 123456 • ДДС BG123456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389120" y="1874520"/>
            <a:ext cx="4389120" cy="3017520"/>
          </a:xfrm>
          <a:prstGeom prst="rect">
            <a:avLst/>
          </a:prstGeom>
          <a:solidFill>
            <a:srgbClr val="1A2A1A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4526280" y="1920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✔  ДОБРО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663440" y="2331720"/>
            <a:ext cx="3840480" cy="36576"/>
          </a:xfrm>
          <a:prstGeom prst="rect">
            <a:avLst/>
          </a:prstGeom>
          <a:solidFill>
            <a:srgbClr val="2ECC71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4663440" y="2423160"/>
            <a:ext cx="3840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50% отстъпка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663440" y="312724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Само днес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663440" y="352044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Поръчай на 0800 123 456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5120640" y="3886200"/>
            <a:ext cx="2834640" cy="384048"/>
          </a:xfrm>
          <a:prstGeom prst="rect">
            <a:avLst/>
          </a:prstGeom>
          <a:solidFill>
            <a:srgbClr val="2ECC71"/>
          </a:solidFill>
          <a:ln>
            <a:noFill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5120640" y="388620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КУПИ СЕГА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10" y="4060868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228600" y="16459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ГРЕШКА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365760" y="54864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Лоша типография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365760" y="13258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Шрифтовете като инструмент за комуникация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65760" y="1737360"/>
            <a:ext cx="109728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365760" y="1874520"/>
            <a:ext cx="3840480" cy="3063240"/>
          </a:xfrm>
          <a:prstGeom prst="rect">
            <a:avLst/>
          </a:prstGeom>
          <a:solidFill>
            <a:srgbClr val="2A2200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502920" y="19202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❌  ЛОШО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02920" y="224028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Impact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Impact"/>
                <a:ea typeface="Impact"/>
                <a:cs typeface="Impact"/>
                <a:sym typeface="Impact"/>
              </a:rPr>
              <a:t>НАША ФИРМА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02920" y="256032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"/>
              <a:buFont typeface="Georgia"/>
              <a:buNone/>
            </a:pPr>
            <a:r>
              <a:rPr b="1" i="1" lang="en-US" sz="1200" u="none" cap="none" strike="noStrike">
                <a:solidFill>
                  <a:srgbClr val="FFFF00"/>
                </a:solidFill>
                <a:latin typeface="Georgia"/>
                <a:ea typeface="Georgia"/>
                <a:cs typeface="Georgia"/>
                <a:sym typeface="Georgia"/>
              </a:rPr>
              <a:t>Продукти и услуги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02920" y="278892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За Контакти кликнете тук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02920" y="306324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F9900"/>
                </a:solidFill>
                <a:latin typeface="Arial Black"/>
                <a:ea typeface="Arial Black"/>
                <a:cs typeface="Arial Black"/>
                <a:sym typeface="Arial Black"/>
              </a:rPr>
              <a:t>СПЕЦИАЛНА ОФЕРТА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02920" y="329184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000"/>
              <a:buFont typeface="Palatino Linotype"/>
              <a:buNone/>
            </a:pPr>
            <a:r>
              <a:rPr b="0" i="1" lang="en-US" sz="1000" u="none" cap="none" strike="noStrike">
                <a:solidFill>
                  <a:srgbClr val="FF00F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Прочетете повече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02920" y="354787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FF00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99FF00"/>
                </a:solidFill>
                <a:latin typeface="Trebuchet MS"/>
                <a:ea typeface="Trebuchet MS"/>
                <a:cs typeface="Trebuchet MS"/>
                <a:sym typeface="Trebuchet MS"/>
              </a:rPr>
              <a:t>©2025 Всички права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02920" y="382219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666"/>
              </a:buClr>
              <a:buSzPts val="1100"/>
              <a:buFont typeface="Impact"/>
              <a:buNone/>
            </a:pPr>
            <a:r>
              <a:rPr b="0" i="0" lang="en-US" sz="1100" u="none" cap="none" strike="noStrike">
                <a:solidFill>
                  <a:srgbClr val="FF6666"/>
                </a:solidFill>
                <a:latin typeface="Impact"/>
                <a:ea typeface="Impact"/>
                <a:cs typeface="Impact"/>
                <a:sym typeface="Impact"/>
              </a:rPr>
              <a:t>info@firma.bg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389120" y="1874520"/>
            <a:ext cx="4389120" cy="3063240"/>
          </a:xfrm>
          <a:prstGeom prst="rect">
            <a:avLst/>
          </a:prstGeom>
          <a:solidFill>
            <a:srgbClr val="1A1A28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4526280" y="19202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✔  ДОБРО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572000" y="2267712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Нашата Фирма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572000" y="278892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Продукти и услуги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572000" y="3127248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Calibri"/>
                <a:ea typeface="Calibri"/>
                <a:cs typeface="Calibri"/>
                <a:sym typeface="Calibri"/>
              </a:rPr>
              <a:t>Специална оферта за нашите клиенти с много изгодни условия.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572000" y="3675888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© 2025 Всички права запазени  |  info@firma.bg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365760" y="502920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365760" y="502920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365760" y="502920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365760" y="502920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228600" y="16459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9B8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ГРЕШКА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65760" y="54864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Лоша композиция и липса на подравняване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365760" y="13258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Структура, бяло пространство и движение на окото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365760" y="1737360"/>
            <a:ext cx="1097280" cy="4572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365760" y="1874520"/>
            <a:ext cx="3840480" cy="3063240"/>
          </a:xfrm>
          <a:prstGeom prst="rect">
            <a:avLst/>
          </a:prstGeom>
          <a:solidFill>
            <a:srgbClr val="1A1A2A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502920" y="192024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❌  БЕЗ ПОДРАВНЯВАНЕ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40080" y="2304288"/>
            <a:ext cx="1097280" cy="457200"/>
          </a:xfrm>
          <a:prstGeom prst="rect">
            <a:avLst/>
          </a:prstGeom>
          <a:solidFill>
            <a:srgbClr val="3A3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2103120" y="2194560"/>
            <a:ext cx="1828800" cy="347472"/>
          </a:xfrm>
          <a:prstGeom prst="rect">
            <a:avLst/>
          </a:prstGeom>
          <a:solidFill>
            <a:srgbClr val="503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548640" y="2880360"/>
            <a:ext cx="2743200" cy="502920"/>
          </a:xfrm>
          <a:prstGeom prst="rect">
            <a:avLst/>
          </a:prstGeom>
          <a:solidFill>
            <a:srgbClr val="204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1645920" y="2606040"/>
            <a:ext cx="822960" cy="228600"/>
          </a:xfrm>
          <a:prstGeom prst="rect">
            <a:avLst/>
          </a:prstGeom>
          <a:solidFill>
            <a:srgbClr val="502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822960" y="3474720"/>
            <a:ext cx="1371600" cy="548640"/>
          </a:xfrm>
          <a:prstGeom prst="rect">
            <a:avLst/>
          </a:prstGeom>
          <a:solidFill>
            <a:srgbClr val="305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2286000" y="3383280"/>
            <a:ext cx="1645920" cy="320040"/>
          </a:xfrm>
          <a:prstGeom prst="rect">
            <a:avLst/>
          </a:prstGeom>
          <a:solidFill>
            <a:srgbClr val="404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548640" y="4114800"/>
            <a:ext cx="3474720" cy="594360"/>
          </a:xfrm>
          <a:prstGeom prst="rect">
            <a:avLst/>
          </a:prstGeom>
          <a:solidFill>
            <a:srgbClr val="503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4389120" y="1874520"/>
            <a:ext cx="4389120" cy="3063240"/>
          </a:xfrm>
          <a:prstGeom prst="rect">
            <a:avLst/>
          </a:prstGeom>
          <a:solidFill>
            <a:srgbClr val="1A1A2A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4526280" y="192024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✔  С ПОДРАВНЯВАНЕ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572000" y="2240280"/>
            <a:ext cx="3840480" cy="384048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2A5A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4572000" y="2697480"/>
            <a:ext cx="1828800" cy="804672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2A5A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6473952" y="2697480"/>
            <a:ext cx="1938528" cy="804672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2A5A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4572000" y="3575304"/>
            <a:ext cx="3840480" cy="320040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2A5A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4572000" y="3968496"/>
            <a:ext cx="1207008" cy="658368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2A5A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5852160" y="3968496"/>
            <a:ext cx="1207008" cy="658368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2A5A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7132320" y="3968496"/>
            <a:ext cx="1280160" cy="658368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2A5A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365760" y="4828032"/>
            <a:ext cx="2011680" cy="164592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365760" y="501091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BBBCC"/>
                </a:solidFill>
                <a:latin typeface="Calibri"/>
                <a:ea typeface="Calibri"/>
                <a:cs typeface="Calibri"/>
                <a:sym typeface="Calibri"/>
              </a:rPr>
              <a:t>Използвай мрежа (grid)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2560320" y="4828032"/>
            <a:ext cx="2011680" cy="1645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2560320" y="501091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BBBCC"/>
                </a:solidFill>
                <a:latin typeface="Calibri"/>
                <a:ea typeface="Calibri"/>
                <a:cs typeface="Calibri"/>
                <a:sym typeface="Calibri"/>
              </a:rPr>
              <a:t>Подравнявай по ос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754880" y="4828032"/>
            <a:ext cx="2011680" cy="16459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4754880" y="501091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BBBCC"/>
                </a:solidFill>
                <a:latin typeface="Calibri"/>
                <a:ea typeface="Calibri"/>
                <a:cs typeface="Calibri"/>
                <a:sym typeface="Calibri"/>
              </a:rPr>
              <a:t>Оставяй бяло пространство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6949440" y="4828032"/>
            <a:ext cx="2011680" cy="1645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6949440" y="501091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BBBCC"/>
                </a:solidFill>
                <a:latin typeface="Calibri"/>
                <a:ea typeface="Calibri"/>
                <a:cs typeface="Calibri"/>
                <a:sym typeface="Calibri"/>
              </a:rPr>
              <a:t>Групирай свързани елементи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228600" y="16459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ГРЕШКА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65760" y="54864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Лош контраст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365760" y="13258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Дизайнът изглежда добре, но е труден за четене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365760" y="1737360"/>
            <a:ext cx="109728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365760" y="1874520"/>
            <a:ext cx="2651760" cy="132588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457200" y="201168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Примерен текст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Жълто на жълто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365760" y="2834640"/>
            <a:ext cx="2651760" cy="365760"/>
          </a:xfrm>
          <a:prstGeom prst="rect">
            <a:avLst/>
          </a:prstGeom>
          <a:solidFill>
            <a:srgbClr val="3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" name="Google Shape;18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8803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6"/>
          <p:cNvSpPr/>
          <p:nvPr/>
        </p:nvSpPr>
        <p:spPr>
          <a:xfrm>
            <a:off x="777240" y="285292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Лош контраст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3200400" y="1874520"/>
            <a:ext cx="2651760" cy="13258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3291840" y="201168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Примерен текст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Сиво на сиво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3200400" y="2834640"/>
            <a:ext cx="2651760" cy="365760"/>
          </a:xfrm>
          <a:prstGeom prst="rect">
            <a:avLst/>
          </a:prstGeom>
          <a:solidFill>
            <a:srgbClr val="3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1840" y="28803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6"/>
          <p:cNvSpPr/>
          <p:nvPr/>
        </p:nvSpPr>
        <p:spPr>
          <a:xfrm>
            <a:off x="3611880" y="285292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Лош контраст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6035040" y="1874520"/>
            <a:ext cx="2651760" cy="1325880"/>
          </a:xfrm>
          <a:prstGeom prst="rect">
            <a:avLst/>
          </a:prstGeom>
          <a:solidFill>
            <a:srgbClr val="0000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6126480" y="201168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Примерен текст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Синьо на синьо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6035040" y="2834640"/>
            <a:ext cx="2651760" cy="365760"/>
          </a:xfrm>
          <a:prstGeom prst="rect">
            <a:avLst/>
          </a:prstGeom>
          <a:solidFill>
            <a:srgbClr val="3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3" name="Google Shape;19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0" y="28803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6"/>
          <p:cNvSpPr/>
          <p:nvPr/>
        </p:nvSpPr>
        <p:spPr>
          <a:xfrm>
            <a:off x="6446520" y="285292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Лош контраст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65760" y="3383280"/>
            <a:ext cx="2651760" cy="1325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57200" y="352044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Примерен текст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Бяло на тъмно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365760" y="4343400"/>
            <a:ext cx="2651760" cy="365760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" name="Google Shape;19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38912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6"/>
          <p:cNvSpPr/>
          <p:nvPr/>
        </p:nvSpPr>
        <p:spPr>
          <a:xfrm>
            <a:off x="777240" y="436168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Добър контраст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3200400" y="3383280"/>
            <a:ext cx="2651760" cy="13258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3291840" y="352044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Примерен текст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Бяло на червено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3200400" y="4343400"/>
            <a:ext cx="2651760" cy="365760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840" y="438912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6"/>
          <p:cNvSpPr/>
          <p:nvPr/>
        </p:nvSpPr>
        <p:spPr>
          <a:xfrm>
            <a:off x="3611880" y="436168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Добър контраст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6035040" y="3383280"/>
            <a:ext cx="2651760" cy="1325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6126480" y="352044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Примерен текст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Тъмно на светло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6035040" y="4343400"/>
            <a:ext cx="2651760" cy="365760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8" name="Google Shape;20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0" y="438912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6"/>
          <p:cNvSpPr/>
          <p:nvPr/>
        </p:nvSpPr>
        <p:spPr>
          <a:xfrm>
            <a:off x="6446520" y="436168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Добър контраст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228600" y="16459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ГРЕШКА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365760" y="54864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Разтеглени и нискокачествени изображения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365760" y="13258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Изисквания и стандарти за изображения в печата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365760" y="1737360"/>
            <a:ext cx="109728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365760" y="1874520"/>
            <a:ext cx="2011680" cy="1463040"/>
          </a:xfrm>
          <a:prstGeom prst="rect">
            <a:avLst/>
          </a:prstGeom>
          <a:solidFill>
            <a:srgbClr val="4A1A1A"/>
          </a:solidFill>
          <a:ln cap="flat" cmpd="sng" w="12700">
            <a:solidFill>
              <a:srgbClr val="44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411480" y="192024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4444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884444"/>
                </a:solidFill>
                <a:latin typeface="Courier New"/>
                <a:ea typeface="Courier New"/>
                <a:cs typeface="Courier New"/>
                <a:sym typeface="Courier New"/>
              </a:rPr>
              <a:t>██ ██ ██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411480" y="248716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72 DPI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(Уеб)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411480" y="299923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Екран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2514600" y="1874520"/>
            <a:ext cx="2011680" cy="1463040"/>
          </a:xfrm>
          <a:prstGeom prst="rect">
            <a:avLst/>
          </a:prstGeom>
          <a:solidFill>
            <a:srgbClr val="3A2A1A"/>
          </a:solidFill>
          <a:ln cap="flat" cmpd="sng" w="12700">
            <a:solidFill>
              <a:srgbClr val="44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2560320" y="192024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4444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884444"/>
                </a:solidFill>
                <a:latin typeface="Courier New"/>
                <a:ea typeface="Courier New"/>
                <a:cs typeface="Courier New"/>
                <a:sym typeface="Courier New"/>
              </a:rPr>
              <a:t>▓▓ ▓▓ ▓▓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2560320" y="248716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150 DPI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(Минимум)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2560320" y="299923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Ниско качество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4663440" y="1874520"/>
            <a:ext cx="2011680" cy="1463040"/>
          </a:xfrm>
          <a:prstGeom prst="rect">
            <a:avLst/>
          </a:prstGeom>
          <a:solidFill>
            <a:srgbClr val="1A3A1A"/>
          </a:solidFill>
          <a:ln cap="flat" cmpd="sng" w="12700">
            <a:solidFill>
              <a:srgbClr val="44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4709160" y="192024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9B8E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0F9B8E"/>
                </a:solidFill>
                <a:latin typeface="Courier New"/>
                <a:ea typeface="Courier New"/>
                <a:cs typeface="Courier New"/>
                <a:sym typeface="Courier New"/>
              </a:rPr>
              <a:t>░░░░░░░░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4709160" y="248716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300 DPI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(Стандарт)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4709160" y="299923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Офсетов печат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6812280" y="1874520"/>
            <a:ext cx="2011680" cy="1463040"/>
          </a:xfrm>
          <a:prstGeom prst="rect">
            <a:avLst/>
          </a:prstGeom>
          <a:solidFill>
            <a:srgbClr val="1A2A3A"/>
          </a:solidFill>
          <a:ln cap="flat" cmpd="sng" w="12700">
            <a:solidFill>
              <a:srgbClr val="44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6858000" y="192024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9B8E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0F9B8E"/>
                </a:solidFill>
                <a:latin typeface="Courier New"/>
                <a:ea typeface="Courier New"/>
                <a:cs typeface="Courier New"/>
                <a:sym typeface="Courier New"/>
              </a:rPr>
              <a:t>▒▒▒▒▒▒▒▒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6858000" y="248716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600 DPI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(Висок кл.)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6858000" y="299923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Лазерен печат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6" name="Google Shape;2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358444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7"/>
          <p:cNvSpPr/>
          <p:nvPr/>
        </p:nvSpPr>
        <p:spPr>
          <a:xfrm>
            <a:off x="713232" y="352044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8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C8D8"/>
                </a:solidFill>
                <a:latin typeface="Calibri"/>
                <a:ea typeface="Calibri"/>
                <a:cs typeface="Calibri"/>
                <a:sym typeface="Calibri"/>
              </a:rPr>
              <a:t>Използвай изображения минимум 300 DPI за печат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8" name="Google Shape;2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40599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7"/>
          <p:cNvSpPr/>
          <p:nvPr/>
        </p:nvSpPr>
        <p:spPr>
          <a:xfrm>
            <a:off x="713232" y="3995928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8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C8D8"/>
                </a:solidFill>
                <a:latin typeface="Calibri"/>
                <a:ea typeface="Calibri"/>
                <a:cs typeface="Calibri"/>
                <a:sym typeface="Calibri"/>
              </a:rPr>
              <a:t>Запазвай пропорциите при мащабиране (Shift + влачене)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0" name="Google Shape;2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45354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7"/>
          <p:cNvSpPr/>
          <p:nvPr/>
        </p:nvSpPr>
        <p:spPr>
          <a:xfrm>
            <a:off x="713232" y="4471416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8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C8D8"/>
                </a:solidFill>
                <a:latin typeface="Calibri"/>
                <a:ea typeface="Calibri"/>
                <a:cs typeface="Calibri"/>
                <a:sym typeface="Calibri"/>
              </a:rPr>
              <a:t>Предпочитай векторни формати (SVG, EPS, AI, PDF)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2" name="Google Shape;24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358444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7"/>
          <p:cNvSpPr/>
          <p:nvPr/>
        </p:nvSpPr>
        <p:spPr>
          <a:xfrm>
            <a:off x="5010912" y="352044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8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C8D8"/>
                </a:solidFill>
                <a:latin typeface="Calibri"/>
                <a:ea typeface="Calibri"/>
                <a:cs typeface="Calibri"/>
                <a:sym typeface="Calibri"/>
              </a:rPr>
              <a:t>Никога не увеличавай малко изображение – ще стане размазано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4" name="Google Shape;24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40599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7"/>
          <p:cNvSpPr/>
          <p:nvPr/>
        </p:nvSpPr>
        <p:spPr>
          <a:xfrm>
            <a:off x="5010912" y="3995928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8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C8D8"/>
                </a:solidFill>
                <a:latin typeface="Calibri"/>
                <a:ea typeface="Calibri"/>
                <a:cs typeface="Calibri"/>
                <a:sym typeface="Calibri"/>
              </a:rPr>
              <a:t>Не използвай screenshot или изображения от уеб за печат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6" name="Google Shape;24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45354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7"/>
          <p:cNvSpPr/>
          <p:nvPr/>
        </p:nvSpPr>
        <p:spPr>
          <a:xfrm>
            <a:off x="5010912" y="4471416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8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C8D8"/>
                </a:solidFill>
                <a:latin typeface="Calibri"/>
                <a:ea typeface="Calibri"/>
                <a:cs typeface="Calibri"/>
                <a:sym typeface="Calibri"/>
              </a:rPr>
              <a:t>Не разтегляй диспропорционално – хората изглеждат деформирани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228600" y="16459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ГРЕШКА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365760" y="54864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Прекалено много ефекти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365760" y="13258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Когато дизайнът се опитва да впечатли, вместо да комуникира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365760" y="1737360"/>
            <a:ext cx="109728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365760" y="1874520"/>
            <a:ext cx="3840480" cy="3063240"/>
          </a:xfrm>
          <a:prstGeom prst="rect">
            <a:avLst/>
          </a:prstGeom>
          <a:solidFill>
            <a:srgbClr val="200020"/>
          </a:solidFill>
          <a:ln cap="flat" cmpd="sng" w="254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502920" y="19202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❌  ЛОШО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457200" y="2240280"/>
            <a:ext cx="3566160" cy="548640"/>
          </a:xfrm>
          <a:prstGeom prst="rect">
            <a:avLst/>
          </a:prstGeom>
          <a:solidFill>
            <a:srgbClr val="660066"/>
          </a:solidFill>
          <a:ln>
            <a:noFill/>
          </a:ln>
          <a:effectLst>
            <a:outerShdw blurRad="152400" rotWithShape="0" algn="bl" dir="8100000" dist="63500">
              <a:srgbClr val="000000">
                <a:alpha val="6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640080" y="2377440"/>
            <a:ext cx="3200400" cy="365760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548640" y="2834640"/>
            <a:ext cx="3383280" cy="45720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152400" rotWithShape="0" algn="bl" dir="8100000" dist="63500">
              <a:srgbClr val="000000">
                <a:alpha val="6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822960" y="2971800"/>
            <a:ext cx="2743200" cy="27432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457200" y="3429000"/>
            <a:ext cx="3566160" cy="411480"/>
          </a:xfrm>
          <a:prstGeom prst="rect">
            <a:avLst/>
          </a:prstGeom>
          <a:solidFill>
            <a:srgbClr val="CC6600"/>
          </a:solidFill>
          <a:ln>
            <a:noFill/>
          </a:ln>
          <a:effectLst>
            <a:outerShdw blurRad="152400" rotWithShape="0" algn="bl" dir="8100000" dist="63500">
              <a:srgbClr val="000000">
                <a:alpha val="6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731520" y="3566160"/>
            <a:ext cx="2926080" cy="228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457200" y="3977640"/>
            <a:ext cx="3566160" cy="502920"/>
          </a:xfrm>
          <a:prstGeom prst="rect">
            <a:avLst/>
          </a:prstGeom>
          <a:solidFill>
            <a:srgbClr val="006633"/>
          </a:solidFill>
          <a:ln>
            <a:noFill/>
          </a:ln>
          <a:effectLst>
            <a:outerShdw blurRad="152400" rotWithShape="0" algn="bl" dir="8100000" dist="63500">
              <a:srgbClr val="000000">
                <a:alpha val="6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502920" y="2286000"/>
            <a:ext cx="3566160" cy="45720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8100000" dist="38100">
              <a:srgbClr val="000000">
                <a:alpha val="8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Impact"/>
              <a:buNone/>
            </a:pPr>
            <a:r>
              <a:rPr b="1" i="0" lang="en-US" sz="1800" u="none" cap="none" strike="noStrike">
                <a:solidFill>
                  <a:srgbClr val="FFFF00"/>
                </a:solidFill>
                <a:latin typeface="Impact"/>
                <a:ea typeface="Impact"/>
                <a:cs typeface="Impact"/>
                <a:sym typeface="Impact"/>
              </a:rPr>
              <a:t>СПЕЦИАЛНА ОФЕРТА!!!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502920" y="288036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1400"/>
              <a:buFont typeface="Calibri"/>
              <a:buNone/>
            </a:pPr>
            <a:r>
              <a:rPr b="1" i="1" lang="en-US" sz="1400" u="none" cap="none" strike="noStrik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Купи сега и спести!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502920" y="3456432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00FF"/>
                </a:solidFill>
                <a:latin typeface="Georgia"/>
                <a:ea typeface="Georgia"/>
                <a:cs typeface="Georgia"/>
                <a:sym typeface="Georgia"/>
              </a:rPr>
              <a:t>Неповторима цена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502920" y="4005072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FFA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AAFFAA"/>
                </a:solidFill>
                <a:latin typeface="Courier New"/>
                <a:ea typeface="Courier New"/>
                <a:cs typeface="Courier New"/>
                <a:sym typeface="Courier New"/>
              </a:rPr>
              <a:t>Ограничено предложение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4389120" y="1874520"/>
            <a:ext cx="4389120" cy="3063240"/>
          </a:xfrm>
          <a:prstGeom prst="rect">
            <a:avLst/>
          </a:prstGeom>
          <a:solidFill>
            <a:srgbClr val="1A1A28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4526280" y="19202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✔  ДОБРО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4617720" y="2240280"/>
            <a:ext cx="3931920" cy="1554480"/>
          </a:xfrm>
          <a:prstGeom prst="rect">
            <a:avLst/>
          </a:prstGeom>
          <a:solidFill>
            <a:srgbClr val="1212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4709160" y="237744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Специална оферта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4709160" y="285292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Купи сега и спести 30%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5029200" y="3246120"/>
            <a:ext cx="3108960" cy="457200"/>
          </a:xfrm>
          <a:prstGeom prst="rect">
            <a:avLst/>
          </a:prstGeom>
          <a:solidFill>
            <a:srgbClr val="0F9B8E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5029200" y="32461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КУПИ СЕГА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4617720" y="384048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Оферта валидна до 31.12.2025 г.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365760" y="4818888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Максимум 1 ефект на дизайн (сянка ИЛИ рамка ИЛИ градиент)  •  Ефектите трябва да служат на съдържанието, не да го заменят  •  Тествай отпечатан – ефектите изглеждат различно на хартия и екран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ЗАКЛЮЧЕНИЕ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6-те основни грешки при предпечатната подготовка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365760" y="1627632"/>
            <a:ext cx="4160520" cy="1051560"/>
          </a:xfrm>
          <a:prstGeom prst="rect">
            <a:avLst/>
          </a:prstGeom>
          <a:solidFill>
            <a:srgbClr val="1E203A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365760" y="1627632"/>
            <a:ext cx="45720" cy="10515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502920" y="1773936"/>
            <a:ext cx="438912" cy="438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502920" y="177393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1051560" y="173736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Претрупан дизайн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1051560" y="213055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Твърде много елементи, цветове и текст без фокус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4800600" y="1627632"/>
            <a:ext cx="4160520" cy="1051560"/>
          </a:xfrm>
          <a:prstGeom prst="rect">
            <a:avLst/>
          </a:prstGeom>
          <a:solidFill>
            <a:srgbClr val="1E203A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4800600" y="1627632"/>
            <a:ext cx="45720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4937760" y="1773936"/>
            <a:ext cx="438912" cy="438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4937760" y="177393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5486400" y="173736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Лоша типография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5486400" y="213055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Прекалено много шрифтове, липса на йерархия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365760" y="2770632"/>
            <a:ext cx="4160520" cy="1051560"/>
          </a:xfrm>
          <a:prstGeom prst="rect">
            <a:avLst/>
          </a:prstGeom>
          <a:solidFill>
            <a:srgbClr val="1E203A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365760" y="2770632"/>
            <a:ext cx="45720" cy="105156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502920" y="2916936"/>
            <a:ext cx="438912" cy="438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502920" y="291693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1051560" y="288036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Лоша композиция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1051560" y="327355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Без подравняване, без структура, без бяло пространство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4800600" y="2770632"/>
            <a:ext cx="4160520" cy="1051560"/>
          </a:xfrm>
          <a:prstGeom prst="rect">
            <a:avLst/>
          </a:prstGeom>
          <a:solidFill>
            <a:srgbClr val="1E203A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4800600" y="2770632"/>
            <a:ext cx="45720" cy="10515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4937760" y="2916936"/>
            <a:ext cx="438912" cy="438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4937760" y="291693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5486400" y="288036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Лош контраст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5486400" y="327355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Текст трудно се чете, нисък WCAG коефициент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365760" y="3913632"/>
            <a:ext cx="4160520" cy="1051560"/>
          </a:xfrm>
          <a:prstGeom prst="rect">
            <a:avLst/>
          </a:prstGeom>
          <a:solidFill>
            <a:srgbClr val="1E203A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365760" y="3913632"/>
            <a:ext cx="45720" cy="10515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502920" y="4059936"/>
            <a:ext cx="438912" cy="438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502920" y="405993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1051560" y="402336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Нискокачествени изображения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1051560" y="441655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Под 300 DPI, разтеглени или деформирани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4800600" y="3913632"/>
            <a:ext cx="4160520" cy="1051560"/>
          </a:xfrm>
          <a:prstGeom prst="rect">
            <a:avLst/>
          </a:prstGeom>
          <a:solidFill>
            <a:srgbClr val="1E203A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4800600" y="3913632"/>
            <a:ext cx="45720" cy="10515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4937760" y="4059936"/>
            <a:ext cx="438912" cy="438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4937760" y="405993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5486400" y="402336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Прекалено много ефекти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5486400" y="441655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Сенки, градиенти и ефекти, скриващи съдържанието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2026-06-08T05:57:21Z</dcterms:created>
  <dc:creator>PptxGenJS</dc:creator>
</cp:coreProperties>
</file>